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5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126480" y="22860"/>
            <a:ext cx="3566160" cy="3360420"/>
          </a:xfrm>
          <a:prstGeom prst="chord">
            <a:avLst>
              <a:gd name="adj1" fmla="val 3129931"/>
              <a:gd name="adj2" fmla="val 15712829"/>
            </a:avLst>
          </a:prstGeom>
          <a:solidFill>
            <a:schemeClr val="accent1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616337" y="621792"/>
            <a:ext cx="2005149" cy="2423160"/>
          </a:xfrm>
          <a:prstGeom prst="chord">
            <a:avLst/>
          </a:prstGeom>
          <a:solidFill>
            <a:srgbClr val="132239"/>
          </a:solidFill>
          <a:ln w="12700">
            <a:noFill/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97280"/>
            <a:ext cx="164592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WEEK 4 — ANALYTICS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COVID-19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63946"/>
                </a:solidFill>
              </a:rPr>
              <a:t>GLOBAL DASHBOARD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6A5"/>
                </a:solidFill>
              </a:rPr>
              <a:t>Data Visualization &amp; Dashboarding | AnalystLab Africa Internship — Batch 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2004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49040"/>
            <a:ext cx="256032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85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</a:rPr>
              <a:t>TOOL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3749040"/>
            <a:ext cx="256032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785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</a:rPr>
              <a:t>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Johns Hopkins CSSE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256032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78561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</a:rPr>
              <a:t>PERIOD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0" y="4005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Jan 2020 – Mar 2023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</a:rPr>
              <a:t>Confirmed Cases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</a:rPr>
              <a:t>Daily cumulative confirmed COVID-19 cases per country from Jan 22, 2020 to Mar 9, 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789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</a:rPr>
              <a:t>Deaths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</a:rPr>
              <a:t>Daily cumulative COVID-19 deaths per country across the same time period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201168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789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</a:rPr>
              <a:t>Recovered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8"/>
                </a:solidFill>
              </a:rPr>
              <a:t>Daily cumulative recoveries — tracking stopped by JHU in mid-2021, so post-2021 data is unavailable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192024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</a:rPr>
              <a:t>201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</a:rPr>
              <a:t>Countries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3246120"/>
            <a:ext cx="192024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</a:rPr>
              <a:t>1,143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60604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</a:rPr>
              <a:t>Days of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246120"/>
            <a:ext cx="192024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</a:rPr>
              <a:t>676M+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70916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</a:rPr>
              <a:t>Total Cases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3246120"/>
            <a:ext cx="1920240" cy="1280160"/>
          </a:xfrm>
          <a:prstGeom prst="rect">
            <a:avLst/>
          </a:prstGeom>
          <a:solidFill>
            <a:srgbClr val="0D1E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383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</a:rPr>
              <a:t>6.8M+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1228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6A5"/>
                </a:solidFill>
              </a:rPr>
              <a:t>Total Deaths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6A5"/>
                </a:solidFill>
              </a:rPr>
              <a:t>Source: Johns Hopkins University CSSE — github.com/CSSEGISandData/COVID-19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Business Problem &amp; KPIs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66160" cy="27432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600200"/>
            <a:ext cx="182880" cy="182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727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How did COVID-19 spread globally over time?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112264"/>
            <a:ext cx="182880" cy="182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848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Which countries were hit hardest by cases and deaths?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624328"/>
            <a:ext cx="182880" cy="182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59689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What was the true death rate across the pandemic?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136392"/>
            <a:ext cx="182880" cy="182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089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How did recoveries compare to deaths over time?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648456"/>
            <a:ext cx="182880" cy="1828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62102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</a:rPr>
              <a:t>Which regions showed the most concentrated impact?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987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</a:rPr>
              <a:t>Key KPIs Tracked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26280" y="1417320"/>
            <a:ext cx="201168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14904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</a:rPr>
              <a:t>662M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628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6A5"/>
                </a:solidFill>
              </a:rPr>
              <a:t>Total Confirmed Cases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20840" y="1417320"/>
            <a:ext cx="201168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4904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252"/>
                </a:solidFill>
              </a:rPr>
              <a:t>7M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2084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6A5"/>
                </a:solidFill>
              </a:rPr>
              <a:t>Total Deaths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26280" y="2423160"/>
            <a:ext cx="201168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496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C653"/>
                </a:solidFill>
              </a:rPr>
              <a:t>137M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2628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6A5"/>
                </a:solidFill>
              </a:rPr>
              <a:t>Total Recovered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720840" y="2423160"/>
            <a:ext cx="201168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4963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1.03%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2084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6A5"/>
                </a:solidFill>
              </a:rPr>
              <a:t>Death 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26280" y="3429000"/>
            <a:ext cx="201168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502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C653"/>
                </a:solidFill>
              </a:rPr>
              <a:t>20.70%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52628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6A5"/>
                </a:solidFill>
              </a:rPr>
              <a:t>Recovery Rate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20840" y="3429000"/>
            <a:ext cx="201168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502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DC4"/>
                </a:solidFill>
              </a:rPr>
              <a:t>201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720840" y="39044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6A5"/>
                </a:solidFill>
              </a:rPr>
              <a:t>Countries Tracked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5"/>
                </a:solidFill>
              </a:rPr>
              <a:t>Full interactive dashboard — Power BI Desktop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77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96A5"/>
                </a:solidFill>
              </a:rPr>
              <a:t>[INSERT FULL DASHBOARD SCREENSHOT HERE]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B9E6E3-E1DA-573E-CE21-9AD70778F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3" y="867832"/>
            <a:ext cx="8314506" cy="39197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Visuals Spotlight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A5"/>
                </a:solidFill>
              </a:rPr>
              <a:t>Close-up of trend analysis and geographic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747" y="1371600"/>
            <a:ext cx="4502133" cy="308610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E8459E-DC80-F213-8C50-E3B92C341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" y="1440180"/>
            <a:ext cx="4366260" cy="294893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EB2930-51ED-A4A4-7526-8AF28D436437}"/>
              </a:ext>
            </a:extLst>
          </p:cNvPr>
          <p:cNvGrpSpPr/>
          <p:nvPr/>
        </p:nvGrpSpPr>
        <p:grpSpPr>
          <a:xfrm>
            <a:off x="4937760" y="1184910"/>
            <a:ext cx="4023360" cy="3459480"/>
            <a:chOff x="4754880" y="1386840"/>
            <a:chExt cx="4023360" cy="3459480"/>
          </a:xfrm>
        </p:grpSpPr>
        <p:sp>
          <p:nvSpPr>
            <p:cNvPr id="9" name="Shape 7"/>
            <p:cNvSpPr/>
            <p:nvPr/>
          </p:nvSpPr>
          <p:spPr>
            <a:xfrm>
              <a:off x="4754880" y="1386840"/>
              <a:ext cx="4023360" cy="3459480"/>
            </a:xfrm>
            <a:prstGeom prst="rect">
              <a:avLst/>
            </a:prstGeom>
            <a:solidFill>
              <a:srgbClr val="132238"/>
            </a:solidFill>
            <a:ln w="12700">
              <a:solidFill>
                <a:srgbClr val="1E3A5A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4754880" y="3063240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800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AD2E9E-53FE-77E8-7536-23CD1DA33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24747" y="1478280"/>
              <a:ext cx="3883626" cy="33147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91440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9" y="960120"/>
            <a:ext cx="4206240" cy="1188720"/>
          </a:xfrm>
          <a:prstGeom prst="rect">
            <a:avLst/>
          </a:prstGeom>
          <a:solidFill>
            <a:srgbClr val="13223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9" y="1033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946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9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 Led Global Cases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9" y="1371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The United States recorded the highest confirmed case count (104M), more than double India's total, making it the most affected country in the dataset.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9" y="960120"/>
            <a:ext cx="4206240" cy="1188720"/>
          </a:xfrm>
          <a:prstGeom prst="rect">
            <a:avLst/>
          </a:prstGeom>
          <a:solidFill>
            <a:srgbClr val="13223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9" y="1033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9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Omicron Surge in 2022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9" y="1371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A sharp increase in confirmed cases is observed during early 2022, corresponding to one of the largest global waves of COVID-19 during the study period.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9" y="2286000"/>
            <a:ext cx="4206240" cy="1188720"/>
          </a:xfrm>
          <a:prstGeom prst="rect">
            <a:avLst/>
          </a:prstGeom>
          <a:solidFill>
            <a:srgbClr val="132238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9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C653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9" y="2359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Death Rate Stayed 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9" y="2697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Despite more than 662 million confirmed cases, the global death rate remained approximately 1.03%, indicating that deaths represented a relatively small proportion of reported cases during the study period.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9" y="2286000"/>
            <a:ext cx="4206240" cy="1188720"/>
          </a:xfrm>
          <a:prstGeom prst="rect">
            <a:avLst/>
          </a:prstGeom>
          <a:solidFill>
            <a:srgbClr val="132238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9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DC4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9" y="2359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Recovery Data Gap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9" y="26974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Johns Hopkins ceased tracking recoveries in mid-2021, so the recovery figure of 137M significantly understates real-world recoveries. This is a key data limitation to flag in any analysis.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94569" y="3566160"/>
            <a:ext cx="4480560" cy="1188720"/>
          </a:xfrm>
          <a:prstGeom prst="rect">
            <a:avLst/>
          </a:prstGeom>
          <a:solidFill>
            <a:srgbClr val="132238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9" y="3639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DADC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34649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Europe Densely Affected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9" y="3977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The geographic map shows Europe packed with medium-to-large bubbles across nearly every country, confirming it was the most uniformly affected region despite no single country matching US case totals.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420624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Strengthen Global Disease Surveillance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1508760"/>
            <a:ext cx="3246120" cy="27432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</a:rPr>
              <a:t>Strengthen global disease surveillance by improving standardized reporting systems, particularly in countries with limited data availability, to support timely monitoring during future outbreaks.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20624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43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💉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1143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Improve Recovery Data Reporting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1508760"/>
            <a:ext cx="3246120" cy="27432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</a:rPr>
              <a:t>Ensure consistent collection of recovery data across reporting agencies to improve the quality and reliability of future analyses.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20624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Maintain Comprehensive Public Health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429000"/>
            <a:ext cx="3246120" cy="27432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20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</a:rPr>
              <a:t>The gap left by JHU stopping recovery tracking in 2021 makes it impossible to calculate true active cases. Future data collection standards should mandate complete recovery reporting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4206240" cy="173736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632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Maintain Outbreak Preparedness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3429000"/>
            <a:ext cx="3246120" cy="27432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520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F0F4F8"/>
                </a:solidFill>
              </a:rPr>
              <a:t>Health authorities should maintain surge capacity plans and rapid-response protocols to better manage future disease outbreaks and sudden increases in cases.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Challenges &amp;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645920" cy="3657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3931920" cy="37490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</a:rPr>
              <a:t>⚠️  Challenges Faced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90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Wide-format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All three CSV files had 1,143 date columns that needed unpivoting in Power Query before any analysis was possible.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02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Cumulative vs daily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4871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The data shows cumulative totals, not daily new cases — DAX measures needed careful design using MAX per country, not SUM.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008376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900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Incomplete recovery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236976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JHU stopped tracking recoveries in mid-2021, making recovery metrics unreliable for the second half of the pandemic.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228600" cy="2286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398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 step order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98678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F0F4F8"/>
                </a:solidFill>
              </a:rPr>
              <a:t>Getting the Power Query steps in the right order (headers first, then unpivot) took some troubleshooting to get right.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26280" y="960120"/>
            <a:ext cx="4251960" cy="3749040"/>
          </a:xfrm>
          <a:prstGeom prst="rect">
            <a:avLst/>
          </a:prstGeom>
          <a:solidFill>
            <a:srgbClr val="1322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</a:rPr>
              <a:t>✅  Conclusion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50876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950" dirty="0">
                <a:solidFill>
                  <a:srgbClr val="F0F4F8"/>
                </a:solidFill>
              </a:rPr>
              <a:t>This dashboard brings together three separate datasets into one unified view of the COVID-19 pandemic — covering 201 countries across more than three years of data.</a:t>
            </a:r>
            <a:endParaRPr lang="en-US" sz="950" dirty="0"/>
          </a:p>
          <a:p>
            <a:pPr marL="0" indent="0" algn="just">
              <a:buNone/>
            </a:pPr>
            <a:endParaRPr lang="en-US" sz="950" dirty="0"/>
          </a:p>
          <a:p>
            <a:pPr marL="0" indent="0" algn="just">
              <a:buNone/>
            </a:pPr>
            <a:r>
              <a:rPr lang="en-US" sz="950" dirty="0">
                <a:solidFill>
                  <a:srgbClr val="F0F4F8"/>
                </a:solidFill>
              </a:rPr>
              <a:t>The final dashboard provides an interactive overview of global COVID-19 trends, helping stakeholders monitor case growth, compare countries, and identify data limitations affecting interpretation.</a:t>
            </a:r>
          </a:p>
          <a:p>
            <a:pPr marL="0" indent="0" algn="just">
              <a:buNone/>
            </a:pPr>
            <a:endParaRPr lang="en-US" sz="950" dirty="0">
              <a:solidFill>
                <a:srgbClr val="F0F4F8"/>
              </a:solidFill>
            </a:endParaRPr>
          </a:p>
          <a:p>
            <a:pPr marL="0" indent="0" algn="just">
              <a:buNone/>
            </a:pPr>
            <a:endParaRPr lang="en-US" sz="950" dirty="0"/>
          </a:p>
          <a:p>
            <a:pPr marL="0" indent="0" algn="just">
              <a:buNone/>
            </a:pPr>
            <a:r>
              <a:rPr lang="en-US" sz="950" dirty="0">
                <a:solidFill>
                  <a:srgbClr val="F0F4F8"/>
                </a:solidFill>
              </a:rPr>
              <a:t>Key skills applied this week include Power Query data transformation (unpivoting wide-format data), DAX measure design for cumulative datasets, and data storytelling through a mix of KPI cards, maps, trend lines, and comparative charts.</a:t>
            </a:r>
            <a:endParaRPr lang="en-US" sz="950" dirty="0"/>
          </a:p>
          <a:p>
            <a:pPr marL="0" indent="0" algn="just">
              <a:buNone/>
            </a:pPr>
            <a:endParaRPr lang="en-US" sz="950" dirty="0"/>
          </a:p>
          <a:p>
            <a:pPr marL="0" indent="0" algn="just">
              <a:buNone/>
            </a:pPr>
            <a:r>
              <a:rPr lang="en-US" sz="950" dirty="0">
                <a:solidFill>
                  <a:srgbClr val="F0F4F8"/>
                </a:solidFill>
              </a:rPr>
              <a:t>Working with a real-world public health dataset — complete with its inconsistencies and gaps — was the most practical learning experience of the internship so far.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5"/>
                </a:solidFill>
              </a:rPr>
              <a:t>AnalystLab Africa — Batch C | Week 4 Submission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748</Words>
  <Application>Microsoft Office PowerPoint</Application>
  <PresentationFormat>On-screen Show (16:9)</PresentationFormat>
  <Paragraphs>111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Adeniji Shukrat</dc:creator>
  <cp:lastModifiedBy>Shukrat Adeniji</cp:lastModifiedBy>
  <cp:revision>6</cp:revision>
  <dcterms:created xsi:type="dcterms:W3CDTF">2026-07-27T21:09:46Z</dcterms:created>
  <dcterms:modified xsi:type="dcterms:W3CDTF">2026-07-28T15:00:01Z</dcterms:modified>
</cp:coreProperties>
</file>